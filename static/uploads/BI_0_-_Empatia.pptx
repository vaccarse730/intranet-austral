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77" r:id="rId6"/>
    <p:sldId id="278" r:id="rId7"/>
    <p:sldId id="280" r:id="rId8"/>
    <p:sldId id="279" r:id="rId9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2B84E3-53C0-4685-89EB-7A7B29BB648E}" v="9" dt="2026-09-14T19:34:01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8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Vaccaro" userId="1c3a23808717fd08" providerId="LiveId" clId="{19C8C1BA-05E4-486E-9EEF-6E1E75CEB8DD}"/>
    <pc:docChg chg="custSel modSld sldOrd">
      <pc:chgData name="Sebastian Vaccaro" userId="1c3a23808717fd08" providerId="LiveId" clId="{19C8C1BA-05E4-486E-9EEF-6E1E75CEB8DD}" dt="2026-09-14T19:34:11.924" v="68" actId="27957"/>
      <pc:docMkLst>
        <pc:docMk/>
      </pc:docMkLst>
      <pc:sldChg chg="modSp mod">
        <pc:chgData name="Sebastian Vaccaro" userId="1c3a23808717fd08" providerId="LiveId" clId="{19C8C1BA-05E4-486E-9EEF-6E1E75CEB8DD}" dt="2026-09-14T19:34:11.924" v="68" actId="27957"/>
        <pc:sldMkLst>
          <pc:docMk/>
          <pc:sldMk cId="1401741552" sldId="277"/>
        </pc:sldMkLst>
        <pc:graphicFrameChg chg="add mod modGraphic">
          <ac:chgData name="Sebastian Vaccaro" userId="1c3a23808717fd08" providerId="LiveId" clId="{19C8C1BA-05E4-486E-9EEF-6E1E75CEB8DD}" dt="2026-09-14T19:34:11.924" v="68" actId="27957"/>
          <ac:graphicFrameMkLst>
            <pc:docMk/>
            <pc:sldMk cId="1401741552" sldId="277"/>
            <ac:graphicFrameMk id="5" creationId="{91DB1382-7276-49FA-9632-38D558F457E3}"/>
          </ac:graphicFrameMkLst>
        </pc:graphicFrameChg>
      </pc:sldChg>
      <pc:sldChg chg="ord">
        <pc:chgData name="Sebastian Vaccaro" userId="1c3a23808717fd08" providerId="LiveId" clId="{19C8C1BA-05E4-486E-9EEF-6E1E75CEB8DD}" dt="2026-09-14T19:14:48.780" v="48"/>
        <pc:sldMkLst>
          <pc:docMk/>
          <pc:sldMk cId="3767576277" sldId="278"/>
        </pc:sldMkLst>
      </pc:sldChg>
      <pc:sldChg chg="modSp mod">
        <pc:chgData name="Sebastian Vaccaro" userId="1c3a23808717fd08" providerId="LiveId" clId="{19C8C1BA-05E4-486E-9EEF-6E1E75CEB8DD}" dt="2026-09-14T19:16:58.681" v="61" actId="1076"/>
        <pc:sldMkLst>
          <pc:docMk/>
          <pc:sldMk cId="2335203059" sldId="279"/>
        </pc:sldMkLst>
        <pc:spChg chg="mod">
          <ac:chgData name="Sebastian Vaccaro" userId="1c3a23808717fd08" providerId="LiveId" clId="{19C8C1BA-05E4-486E-9EEF-6E1E75CEB8DD}" dt="2026-09-14T19:15:01.983" v="49" actId="14100"/>
          <ac:spMkLst>
            <pc:docMk/>
            <pc:sldMk cId="2335203059" sldId="279"/>
            <ac:spMk id="3" creationId="{09BDE23B-A245-8DDB-C8A9-AC7849CED05A}"/>
          </ac:spMkLst>
        </pc:spChg>
        <pc:spChg chg="mod">
          <ac:chgData name="Sebastian Vaccaro" userId="1c3a23808717fd08" providerId="LiveId" clId="{19C8C1BA-05E4-486E-9EEF-6E1E75CEB8DD}" dt="2026-09-14T19:15:56.891" v="54" actId="1076"/>
          <ac:spMkLst>
            <pc:docMk/>
            <pc:sldMk cId="2335203059" sldId="279"/>
            <ac:spMk id="10" creationId="{65B7A74F-0196-F67A-EBE7-D8DCEECB38D2}"/>
          </ac:spMkLst>
        </pc:spChg>
        <pc:spChg chg="mod">
          <ac:chgData name="Sebastian Vaccaro" userId="1c3a23808717fd08" providerId="LiveId" clId="{19C8C1BA-05E4-486E-9EEF-6E1E75CEB8DD}" dt="2026-09-14T19:16:58.681" v="61" actId="1076"/>
          <ac:spMkLst>
            <pc:docMk/>
            <pc:sldMk cId="2335203059" sldId="279"/>
            <ac:spMk id="12" creationId="{D9D6D893-E9C9-DC5C-B2B4-39B6AADEDA16}"/>
          </ac:spMkLst>
        </pc:spChg>
        <pc:spChg chg="mod">
          <ac:chgData name="Sebastian Vaccaro" userId="1c3a23808717fd08" providerId="LiveId" clId="{19C8C1BA-05E4-486E-9EEF-6E1E75CEB8DD}" dt="2026-09-14T19:16:15.380" v="55" actId="1076"/>
          <ac:spMkLst>
            <pc:docMk/>
            <pc:sldMk cId="2335203059" sldId="279"/>
            <ac:spMk id="46" creationId="{AD26DDE1-3C4A-A122-15C2-36759269A82F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#1" loCatId="icon" qsTypeId="urn:microsoft.com/office/officeart/2005/8/quickstyle/simple1#6" qsCatId="simple" csTypeId="urn:microsoft.com/office/officeart/2018/5/colors/Iconchunking_neutralicon_accent2_2" csCatId="accent2" phldr="1"/>
      <dgm:spPr/>
      <dgm:t>
        <a:bodyPr rtlCol="0"/>
        <a:lstStyle/>
        <a:p>
          <a:pPr rtl="0"/>
          <a:endParaRPr lang="en-US"/>
        </a:p>
      </dgm:t>
    </dgm:pt>
    <dgm:pt modelId="{40FC4FFE-8987-4A26-B7F4-8A516F18ADAE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s-ES" sz="1600" b="1" noProof="1"/>
            <a:t>DiAgnóstico: </a:t>
          </a:r>
          <a:r>
            <a:rPr lang="es-ES" sz="1600" noProof="1"/>
            <a:t>Detectar y analizar a fondo los Issues de procesos, así como la carga emocional y operativa que generan</a:t>
          </a:r>
        </a:p>
      </dgm:t>
    </dgm:pt>
    <dgm:pt modelId="{CAD7EF86-FB23-41F6-BF42-040B36DEFDB1}" type="parTrans" cxnId="{C7AD8469-3C68-4AF9-AB82-79B0043AA120}">
      <dgm:prSet/>
      <dgm:spPr/>
      <dgm:t>
        <a:bodyPr rtlCol="0"/>
        <a:lstStyle/>
        <a:p>
          <a:pPr rtl="0"/>
          <a:endParaRPr lang="es-ES" noProof="1"/>
        </a:p>
      </dgm:t>
    </dgm:pt>
    <dgm:pt modelId="{5B62599A-5C9B-48E7-896E-EA782AC60C8B}" type="sibTrans" cxnId="{C7AD8469-3C68-4AF9-AB82-79B0043AA120}">
      <dgm:prSet/>
      <dgm:spPr/>
      <dgm:t>
        <a:bodyPr rtlCol="0"/>
        <a:lstStyle/>
        <a:p>
          <a:pPr rtl="0"/>
          <a:endParaRPr lang="es-ES" noProof="1"/>
        </a:p>
      </dgm:t>
    </dgm:pt>
    <dgm:pt modelId="{49225C73-1633-42F1-AB3B-7CB183E5F8B8}">
      <dgm:prSet custT="1"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s-ES" sz="1600" b="1" noProof="1"/>
            <a:t>Sentimiento y Conocimiento: </a:t>
          </a:r>
          <a:r>
            <a:rPr lang="es-ES" sz="1600" noProof="1"/>
            <a:t>Compartir y conocer que nos genera y como nos hacen sentir estos issues y que implicancias tienen en nuestra relación para con la Empresa </a:t>
          </a:r>
        </a:p>
      </dgm:t>
    </dgm:pt>
    <dgm:pt modelId="{1A0E2090-1D4F-438A-8766-B6030CE01ADD}" type="parTrans" cxnId="{A9154303-8225-4248-91DC-1B0156A35F07}">
      <dgm:prSet/>
      <dgm:spPr/>
      <dgm:t>
        <a:bodyPr rtlCol="0"/>
        <a:lstStyle/>
        <a:p>
          <a:pPr rtl="0"/>
          <a:endParaRPr lang="es-ES" noProof="1"/>
        </a:p>
      </dgm:t>
    </dgm:pt>
    <dgm:pt modelId="{9646853A-8964-4519-A5B1-0B7D18B2983D}" type="sibTrans" cxnId="{A9154303-8225-4248-91DC-1B0156A35F07}">
      <dgm:prSet/>
      <dgm:spPr/>
      <dgm:t>
        <a:bodyPr rtlCol="0"/>
        <a:lstStyle/>
        <a:p>
          <a:pPr rtl="0"/>
          <a:endParaRPr lang="es-ES" noProof="1"/>
        </a:p>
      </dgm:t>
    </dgm:pt>
    <dgm:pt modelId="{1C383F32-22E8-4F62-A3E0-BDC3D5F48992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es-ES" b="1" noProof="1"/>
            <a:t>EMPATIA:</a:t>
          </a:r>
          <a:r>
            <a:rPr lang="es-ES" noProof="1"/>
            <a:t> Conectar con la Empatia; como personas, como Equipo y empresa, y con el crecimiento, desarrollo y evolución profesional y empresarial</a:t>
          </a:r>
        </a:p>
      </dgm:t>
    </dgm:pt>
    <dgm:pt modelId="{A7920A2F-3244-4159-AF04-6A1D38B7B317}" type="parTrans" cxnId="{C4CCE57E-E871-46D6-BAD5-880252C95D22}">
      <dgm:prSet/>
      <dgm:spPr/>
      <dgm:t>
        <a:bodyPr rtlCol="0"/>
        <a:lstStyle/>
        <a:p>
          <a:pPr rtl="0"/>
          <a:endParaRPr lang="es-ES" noProof="1"/>
        </a:p>
      </dgm:t>
    </dgm:pt>
    <dgm:pt modelId="{8500F72A-2C6D-4FDF-9C1D-CA691380EB0B}" type="sibTrans" cxnId="{C4CCE57E-E871-46D6-BAD5-880252C95D22}">
      <dgm:prSet/>
      <dgm:spPr/>
      <dgm:t>
        <a:bodyPr rtlCol="0"/>
        <a:lstStyle/>
        <a:p>
          <a:pPr rtl="0"/>
          <a:endParaRPr lang="es-ES" noProof="1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/>
      <dgm:spPr>
        <a:solidFill>
          <a:schemeClr val="accent1"/>
        </a:solidFill>
      </dgm:spPr>
    </dgm:pt>
    <dgm:pt modelId="{7C175B98-93F4-4D7C-BB95-1514AB879CD5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>
        <a:solidFill>
          <a:schemeClr val="accent1"/>
        </a:solidFill>
      </dgm:spPr>
    </dgm:pt>
    <dgm:pt modelId="{DB4CA7C4-FCA1-4127-B20A-2A5C031A3CF4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/>
      <dgm:spPr>
        <a:solidFill>
          <a:schemeClr val="accent1"/>
        </a:solidFill>
      </dgm:spPr>
    </dgm:pt>
    <dgm:pt modelId="{39509775-983E-4110-B989-EE2CD6514BE0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#1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#1"/>
    <dgm:cxn modelId="{1496FC70-DB8B-48D4-98DE-DD2856E389EE}" type="presOf" srcId="{1C383F32-22E8-4F62-A3E0-BDC3D5F48992}" destId="{1AEDC777-00B3-41D7-9AE1-23D741E941C3}" srcOrd="0" destOrd="0" presId="urn:microsoft.com/office/officeart/2018/5/layout/IconCircleLabelList#1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#1"/>
    <dgm:cxn modelId="{555498CB-3ED1-404E-A25F-EB243EFC5FB1}" type="presParOf" srcId="{50B3CE7C-E10B-4E23-BD93-03664997C932}" destId="{DE9CE479-E4AE-4283-AEF1-10C1535B4324}" srcOrd="0" destOrd="0" presId="urn:microsoft.com/office/officeart/2018/5/layout/IconCircleLabelList#1"/>
    <dgm:cxn modelId="{11F12D49-CD08-4D50-BD13-3ECBC3A476A4}" type="presParOf" srcId="{DE9CE479-E4AE-4283-AEF1-10C1535B4324}" destId="{B59FCF02-CAD2-4D6F-9542-AD86711168CA}" srcOrd="0" destOrd="0" presId="urn:microsoft.com/office/officeart/2018/5/layout/IconCircleLabelList#1"/>
    <dgm:cxn modelId="{F443A659-540B-487B-97F9-49219CF60D6B}" type="presParOf" srcId="{DE9CE479-E4AE-4283-AEF1-10C1535B4324}" destId="{7C175B98-93F4-4D7C-BB95-1514AB879CD5}" srcOrd="1" destOrd="0" presId="urn:microsoft.com/office/officeart/2018/5/layout/IconCircleLabelList#1"/>
    <dgm:cxn modelId="{A503D7AB-7D64-4163-93B5-1CEEDAE81823}" type="presParOf" srcId="{DE9CE479-E4AE-4283-AEF1-10C1535B4324}" destId="{677A3090-5F01-43FD-9FA6-C0420AD80FD6}" srcOrd="2" destOrd="0" presId="urn:microsoft.com/office/officeart/2018/5/layout/IconCircleLabelList#1"/>
    <dgm:cxn modelId="{780188ED-7DCE-45BB-B6AF-91BE48969612}" type="presParOf" srcId="{DE9CE479-E4AE-4283-AEF1-10C1535B4324}" destId="{127117FB-F8A7-4A20-A8A7-EC686DDC76D0}" srcOrd="3" destOrd="0" presId="urn:microsoft.com/office/officeart/2018/5/layout/IconCircleLabelList#1"/>
    <dgm:cxn modelId="{155719F8-A89B-4E96-BC49-C48BC717F480}" type="presParOf" srcId="{50B3CE7C-E10B-4E23-BD93-03664997C932}" destId="{FD1EED9C-83D3-41AD-A09B-D3B36354168F}" srcOrd="1" destOrd="0" presId="urn:microsoft.com/office/officeart/2018/5/layout/IconCircleLabelList#1"/>
    <dgm:cxn modelId="{2772E199-56B0-4310-A55E-67D00CA3E59E}" type="presParOf" srcId="{50B3CE7C-E10B-4E23-BD93-03664997C932}" destId="{C998AB0A-577D-44AA-A068-F634DDE7BD47}" srcOrd="2" destOrd="0" presId="urn:microsoft.com/office/officeart/2018/5/layout/IconCircleLabelList#1"/>
    <dgm:cxn modelId="{4E351D18-D97F-4B92-A608-2E9600B91C28}" type="presParOf" srcId="{C998AB0A-577D-44AA-A068-F634DDE7BD47}" destId="{BCD8CDD9-0C56-4401-ADB1-8B48DAB2C96F}" srcOrd="0" destOrd="0" presId="urn:microsoft.com/office/officeart/2018/5/layout/IconCircleLabelList#1"/>
    <dgm:cxn modelId="{B3DC724C-4569-4E9D-BD5A-49E4CD991FD0}" type="presParOf" srcId="{C998AB0A-577D-44AA-A068-F634DDE7BD47}" destId="{DB4CA7C4-FCA1-4127-B20A-2A5C031A3CF4}" srcOrd="1" destOrd="0" presId="urn:microsoft.com/office/officeart/2018/5/layout/IconCircleLabelList#1"/>
    <dgm:cxn modelId="{AD1AB552-CCE0-4911-BB9E-5D4A60B21F4F}" type="presParOf" srcId="{C998AB0A-577D-44AA-A068-F634DDE7BD47}" destId="{9B0C8FBF-0BDD-48A5-967E-F3FE71659F6A}" srcOrd="2" destOrd="0" presId="urn:microsoft.com/office/officeart/2018/5/layout/IconCircleLabelList#1"/>
    <dgm:cxn modelId="{8558F796-2D01-40FE-A21A-7530EEBC3BC3}" type="presParOf" srcId="{C998AB0A-577D-44AA-A068-F634DDE7BD47}" destId="{7E6FE37A-5DB0-4899-9FCB-0CE39BC185F8}" srcOrd="3" destOrd="0" presId="urn:microsoft.com/office/officeart/2018/5/layout/IconCircleLabelList#1"/>
    <dgm:cxn modelId="{1532E2BE-82E9-40A4-A6F7-40B60FC879AE}" type="presParOf" srcId="{50B3CE7C-E10B-4E23-BD93-03664997C932}" destId="{5A266296-0042-402F-92EF-D59AB148E92E}" srcOrd="3" destOrd="0" presId="urn:microsoft.com/office/officeart/2018/5/layout/IconCircleLabelList#1"/>
    <dgm:cxn modelId="{3A7F4DB9-1469-4F58-B633-24B7EEE084D1}" type="presParOf" srcId="{50B3CE7C-E10B-4E23-BD93-03664997C932}" destId="{ECFA770B-DE2C-4683-A038-58D0FE44BC27}" srcOrd="4" destOrd="0" presId="urn:microsoft.com/office/officeart/2018/5/layout/IconCircleLabelList#1"/>
    <dgm:cxn modelId="{91311827-CDAC-4BA8-B4A3-117AFD1CEE2D}" type="presParOf" srcId="{ECFA770B-DE2C-4683-A038-58D0FE44BC27}" destId="{FF93E135-77D6-48A0-8871-9BC93D705D06}" srcOrd="0" destOrd="0" presId="urn:microsoft.com/office/officeart/2018/5/layout/IconCircleLabelList#1"/>
    <dgm:cxn modelId="{83B7CA40-11B7-4507-8422-A40F02D469B2}" type="presParOf" srcId="{ECFA770B-DE2C-4683-A038-58D0FE44BC27}" destId="{39509775-983E-4110-B989-EE2CD6514BE0}" srcOrd="1" destOrd="0" presId="urn:microsoft.com/office/officeart/2018/5/layout/IconCircleLabelList#1"/>
    <dgm:cxn modelId="{A44BB251-01EB-4DEF-A28C-6D495183E4DC}" type="presParOf" srcId="{ECFA770B-DE2C-4683-A038-58D0FE44BC27}" destId="{493B43B2-705C-4AE5-8A77-D8DEEDA1B5CF}" srcOrd="2" destOrd="0" presId="urn:microsoft.com/office/officeart/2018/5/layout/IconCircleLabelList#1"/>
    <dgm:cxn modelId="{1EFA52DF-3C80-4DAA-BED6-AFE2F81796B2}" type="presParOf" srcId="{ECFA770B-DE2C-4683-A038-58D0FE44BC27}" destId="{1AEDC777-00B3-41D7-9AE1-23D741E941C3}" srcOrd="3" destOrd="0" presId="urn:microsoft.com/office/officeart/2018/5/layout/IconCircleLabelLis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754512" y="254911"/>
          <a:ext cx="2093062" cy="2093062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1200575" y="700974"/>
          <a:ext cx="1200937" cy="1200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85419" y="2999911"/>
          <a:ext cx="3431250" cy="1335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b="1" kern="1200" noProof="1"/>
            <a:t>DiAgnóstico: </a:t>
          </a:r>
          <a:r>
            <a:rPr lang="es-ES" sz="1600" kern="1200" noProof="1"/>
            <a:t>Detectar y analizar a fondo los Issues de procesos, así como la carga emocional y operativa que generan</a:t>
          </a:r>
        </a:p>
      </dsp:txBody>
      <dsp:txXfrm>
        <a:off x="85419" y="2999911"/>
        <a:ext cx="3431250" cy="1335937"/>
      </dsp:txXfrm>
    </dsp:sp>
    <dsp:sp modelId="{BCD8CDD9-0C56-4401-ADB1-8B48DAB2C96F}">
      <dsp:nvSpPr>
        <dsp:cNvPr id="0" name=""/>
        <dsp:cNvSpPr/>
      </dsp:nvSpPr>
      <dsp:spPr>
        <a:xfrm>
          <a:off x="4786231" y="254911"/>
          <a:ext cx="2093062" cy="2093062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5232294" y="700974"/>
          <a:ext cx="1200937" cy="1200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4117137" y="2999911"/>
          <a:ext cx="3431250" cy="1335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b="1" kern="1200" noProof="1"/>
            <a:t>Sentimiento y Conocimiento: </a:t>
          </a:r>
          <a:r>
            <a:rPr lang="es-ES" sz="1600" kern="1200" noProof="1"/>
            <a:t>Compartir y conocer que nos genera y como nos hacen sentir estos issues y que implicancias tienen en nuestra relación para con la Empresa </a:t>
          </a:r>
        </a:p>
      </dsp:txBody>
      <dsp:txXfrm>
        <a:off x="4117137" y="2999911"/>
        <a:ext cx="3431250" cy="1335937"/>
      </dsp:txXfrm>
    </dsp:sp>
    <dsp:sp modelId="{FF93E135-77D6-48A0-8871-9BC93D705D06}">
      <dsp:nvSpPr>
        <dsp:cNvPr id="0" name=""/>
        <dsp:cNvSpPr/>
      </dsp:nvSpPr>
      <dsp:spPr>
        <a:xfrm>
          <a:off x="8817950" y="254911"/>
          <a:ext cx="2093062" cy="2093062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9264012" y="700974"/>
          <a:ext cx="1200937" cy="1200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8148856" y="2999911"/>
          <a:ext cx="3431250" cy="1335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b="1" kern="1200" noProof="1"/>
            <a:t>EMPATIA:</a:t>
          </a:r>
          <a:r>
            <a:rPr lang="es-ES" sz="1600" kern="1200" noProof="1"/>
            <a:t> Conectar con la Empatia; como personas, como Equipo y empresa, y con el crecimiento, desarrollo y evolución profesional y empresarial</a:t>
          </a:r>
        </a:p>
      </dsp:txBody>
      <dsp:txXfrm>
        <a:off x="8148856" y="2999911"/>
        <a:ext cx="3431250" cy="1335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#1">
  <dgm:title val="Icono de la lista de etiquetas de círculo"/>
  <dgm:desc val="Se usa para mostrar fragmentos no secuenciales o agrupados de información acompañados de elementos visuales relacionados. Funciona mejor con iconos o imágenes pequeñas con leyendas de texto breve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B0FAE97-1210-4E36-A60A-8BA798A12A99}" type="datetime1">
              <a:rPr lang="es-ES" smtClean="0"/>
              <a:t>14/09/2026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3D3D879-06F7-4BB3-9FD8-DADB216A1AB3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9845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1" name="Elips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es-MX" noProof="0"/>
              <a:t>Haz clic para editar el estilo de subtítulo del patrón</a:t>
            </a:r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14CEBD4D-085C-498A-87ED-B94FC4CBCFC7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8" name="Conector rec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4DC918-9477-44C9-87CA-58BC8D7EC64E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Elips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AA7CFC-FF55-48D5-B9D9-FA93FB0A1F63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8" name="Conector rec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9DBD11-34E4-448E-809B-329C5E8C1419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MX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DB1031-BFAF-464E-A517-D151D571897F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BED521-1CC1-404B-8AD1-BBD24E269425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3E9304-DC69-42FE-B771-884D748CD27D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 hasCustomPrompt="1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es-ES" noProof="0"/>
              <a:t>Haga clic para modificar el estilo del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93D1A9-6AEF-4FF0-93A8-BB445C605128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MX" noProof="0"/>
              <a:t>Haz clic en el icono para agregar una imagen</a:t>
            </a:r>
            <a:endParaRPr lang="es-ES" noProof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AA2184-F169-47A9-9381-0045417AD705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8" name="Conector rec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3C0138-BF83-46A1-914E-F1E2A8306695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0568A9-B9DF-49AA-9F31-6F462455E52A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7" name="Conector rec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EC354E2A-D5C7-4832-8F7D-7F0C53F06735}" type="datetime1">
              <a:rPr lang="es-ES" noProof="0" smtClean="0"/>
              <a:t>14/09/2026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cxnSp>
        <p:nvCxnSpPr>
          <p:cNvPr id="7" name="Conector rec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es-ES" dirty="0">
                <a:solidFill>
                  <a:srgbClr val="FFFFFF"/>
                </a:solidFill>
              </a:rPr>
              <a:t>empatía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/>
          </a:bodyPr>
          <a:lstStyle/>
          <a:p>
            <a:pPr rtl="0"/>
            <a:r>
              <a:rPr lang="es-ES" dirty="0">
                <a:solidFill>
                  <a:srgbClr val="FFFFFF"/>
                </a:solidFill>
              </a:rPr>
              <a:t>AUSTRAL BI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2" descr="Marcador de posición del elemento gráfico SmartArt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2671342"/>
              </p:ext>
            </p:extLst>
          </p:nvPr>
        </p:nvGraphicFramePr>
        <p:xfrm>
          <a:off x="360218" y="2216726"/>
          <a:ext cx="11665526" cy="4590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ítulo 1">
            <a:extLst>
              <a:ext uri="{FF2B5EF4-FFF2-40B4-BE49-F238E27FC236}">
                <a16:creationId xmlns:a16="http://schemas.microsoft.com/office/drawing/2014/main" id="{B9C39D5A-9DE3-273C-D0F6-14F01AC82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MX" dirty="0"/>
              <a:t>Que Es el proyecto Empatía?</a:t>
            </a:r>
          </a:p>
        </p:txBody>
      </p:sp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>
            <a:extLst>
              <a:ext uri="{FF2B5EF4-FFF2-40B4-BE49-F238E27FC236}">
                <a16:creationId xmlns:a16="http://schemas.microsoft.com/office/drawing/2014/main" id="{6F5A6A3D-2343-6251-5995-B1851CD2D99B}"/>
              </a:ext>
            </a:extLst>
          </p:cNvPr>
          <p:cNvSpPr txBox="1"/>
          <p:nvPr/>
        </p:nvSpPr>
        <p:spPr>
          <a:xfrm rot="16200000">
            <a:off x="1657042" y="3665824"/>
            <a:ext cx="1025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Objetivos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7FAC23B6-9003-268E-BC0A-43E7BA845148}"/>
              </a:ext>
            </a:extLst>
          </p:cNvPr>
          <p:cNvGrpSpPr/>
          <p:nvPr/>
        </p:nvGrpSpPr>
        <p:grpSpPr>
          <a:xfrm>
            <a:off x="2323588" y="2084832"/>
            <a:ext cx="8524521" cy="4468368"/>
            <a:chOff x="4488379" y="750625"/>
            <a:chExt cx="7330581" cy="3529279"/>
          </a:xfrm>
        </p:grpSpPr>
        <p:sp>
          <p:nvSpPr>
            <p:cNvPr id="5" name="Flecha: pentágono 4">
              <a:extLst>
                <a:ext uri="{FF2B5EF4-FFF2-40B4-BE49-F238E27FC236}">
                  <a16:creationId xmlns:a16="http://schemas.microsoft.com/office/drawing/2014/main" id="{C4F666F5-C98A-656F-79FC-297FEA98BDAB}"/>
                </a:ext>
              </a:extLst>
            </p:cNvPr>
            <p:cNvSpPr/>
            <p:nvPr/>
          </p:nvSpPr>
          <p:spPr>
            <a:xfrm rot="5400000">
              <a:off x="4363003" y="1806678"/>
              <a:ext cx="2653196" cy="2293256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" name="Flecha: pentágono 5">
              <a:extLst>
                <a:ext uri="{FF2B5EF4-FFF2-40B4-BE49-F238E27FC236}">
                  <a16:creationId xmlns:a16="http://schemas.microsoft.com/office/drawing/2014/main" id="{3509BB35-B775-1207-EC5D-4051C8C7F99A}"/>
                </a:ext>
              </a:extLst>
            </p:cNvPr>
            <p:cNvSpPr/>
            <p:nvPr/>
          </p:nvSpPr>
          <p:spPr>
            <a:xfrm rot="5400000">
              <a:off x="8100050" y="560995"/>
              <a:ext cx="2653196" cy="4784622"/>
            </a:xfrm>
            <a:prstGeom prst="homePlate">
              <a:avLst>
                <a:gd name="adj" fmla="val 39881"/>
              </a:avLst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CF30934-7A66-29D4-6A9A-73FCF2C159C4}"/>
                </a:ext>
              </a:extLst>
            </p:cNvPr>
            <p:cNvSpPr/>
            <p:nvPr/>
          </p:nvSpPr>
          <p:spPr>
            <a:xfrm>
              <a:off x="4542973" y="1017768"/>
              <a:ext cx="2293256" cy="53807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OPERATIVO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2A1D73B-137A-6772-C29F-9E3DF972A53D}"/>
                </a:ext>
              </a:extLst>
            </p:cNvPr>
            <p:cNvSpPr/>
            <p:nvPr/>
          </p:nvSpPr>
          <p:spPr>
            <a:xfrm>
              <a:off x="7034337" y="1017768"/>
              <a:ext cx="2293257" cy="53807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HUMANO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A7D2E229-D404-FFFB-5521-3E06689AA0E5}"/>
                </a:ext>
              </a:extLst>
            </p:cNvPr>
            <p:cNvSpPr/>
            <p:nvPr/>
          </p:nvSpPr>
          <p:spPr>
            <a:xfrm>
              <a:off x="9525702" y="1017768"/>
              <a:ext cx="2293257" cy="53807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VALOR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3D63878-E357-DC6B-B767-98AE54375DE5}"/>
                </a:ext>
              </a:extLst>
            </p:cNvPr>
            <p:cNvSpPr txBox="1"/>
            <p:nvPr/>
          </p:nvSpPr>
          <p:spPr>
            <a:xfrm>
              <a:off x="4488379" y="750625"/>
              <a:ext cx="14711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dirty="0"/>
                <a:t>Etapa 1 - Área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6FA5B148-91ED-B26A-5C12-B9A1D631A9FF}"/>
                </a:ext>
              </a:extLst>
            </p:cNvPr>
            <p:cNvSpPr txBox="1"/>
            <p:nvPr/>
          </p:nvSpPr>
          <p:spPr>
            <a:xfrm>
              <a:off x="7007040" y="750625"/>
              <a:ext cx="1959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dirty="0"/>
                <a:t>Etapa 2 - Individual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6340787E-AC14-F159-2F12-49347207CE18}"/>
                </a:ext>
              </a:extLst>
            </p:cNvPr>
            <p:cNvSpPr txBox="1"/>
            <p:nvPr/>
          </p:nvSpPr>
          <p:spPr>
            <a:xfrm>
              <a:off x="4705350" y="1767905"/>
              <a:ext cx="19685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>
                  <a:solidFill>
                    <a:schemeClr val="bg1"/>
                  </a:solidFill>
                </a:rPr>
                <a:t>Detectar “ISSUES” Políticos/Procesos/Sistemas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231E826F-55C3-0846-02D0-FE12C90240A9}"/>
                </a:ext>
              </a:extLst>
            </p:cNvPr>
            <p:cNvSpPr txBox="1"/>
            <p:nvPr/>
          </p:nvSpPr>
          <p:spPr>
            <a:xfrm>
              <a:off x="7196715" y="1767905"/>
              <a:ext cx="19685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>
                  <a:solidFill>
                    <a:schemeClr val="bg1"/>
                  </a:solidFill>
                </a:rPr>
                <a:t>Conocer ideas y sentimientos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22DEDB14-4F2F-91D2-202C-FE8533A2CFEE}"/>
                </a:ext>
              </a:extLst>
            </p:cNvPr>
            <p:cNvSpPr txBox="1"/>
            <p:nvPr/>
          </p:nvSpPr>
          <p:spPr>
            <a:xfrm>
              <a:off x="9688080" y="1767905"/>
              <a:ext cx="19685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>
                  <a:solidFill>
                    <a:schemeClr val="bg1"/>
                  </a:solidFill>
                </a:rPr>
                <a:t>Capacidades y Valor profesional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B0AD4E1E-5D36-79AB-7EC9-35709EE3CC9B}"/>
                </a:ext>
              </a:extLst>
            </p:cNvPr>
            <p:cNvSpPr/>
            <p:nvPr/>
          </p:nvSpPr>
          <p:spPr>
            <a:xfrm>
              <a:off x="4542973" y="2832433"/>
              <a:ext cx="7275987" cy="29389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PRESENTACIÓN (Conclusiones y Propuesta)</a:t>
              </a:r>
            </a:p>
          </p:txBody>
        </p:sp>
      </p:grpSp>
      <p:sp>
        <p:nvSpPr>
          <p:cNvPr id="37" name="Título 36">
            <a:extLst>
              <a:ext uri="{FF2B5EF4-FFF2-40B4-BE49-F238E27FC236}">
                <a16:creationId xmlns:a16="http://schemas.microsoft.com/office/drawing/2014/main" id="{5AEFA6FE-4D99-9312-28CE-DD0024854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Diagnóstico</a:t>
            </a:r>
          </a:p>
        </p:txBody>
      </p:sp>
    </p:spTree>
    <p:extLst>
      <p:ext uri="{BB962C8B-B14F-4D97-AF65-F5344CB8AC3E}">
        <p14:creationId xmlns:p14="http://schemas.microsoft.com/office/powerpoint/2010/main" val="3767576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57569-190B-AEA5-FCD5-CC9658205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Diagnóstico Etapa 1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0D14AE-6642-93BA-66F7-8F28D45063F8}"/>
              </a:ext>
            </a:extLst>
          </p:cNvPr>
          <p:cNvSpPr txBox="1"/>
          <p:nvPr/>
        </p:nvSpPr>
        <p:spPr>
          <a:xfrm>
            <a:off x="5938758" y="1094026"/>
            <a:ext cx="285040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2000" dirty="0"/>
              <a:t>Operativas por Área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2CCDEBE-99B5-8269-D21C-D4BFA2A4A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086410"/>
              </p:ext>
            </p:extLst>
          </p:nvPr>
        </p:nvGraphicFramePr>
        <p:xfrm>
          <a:off x="1024128" y="1893764"/>
          <a:ext cx="10945504" cy="4575273"/>
        </p:xfrm>
        <a:graphic>
          <a:graphicData uri="http://schemas.openxmlformats.org/drawingml/2006/table">
            <a:tbl>
              <a:tblPr/>
              <a:tblGrid>
                <a:gridCol w="470638">
                  <a:extLst>
                    <a:ext uri="{9D8B030D-6E8A-4147-A177-3AD203B41FA5}">
                      <a16:colId xmlns:a16="http://schemas.microsoft.com/office/drawing/2014/main" val="3205063439"/>
                    </a:ext>
                  </a:extLst>
                </a:gridCol>
                <a:gridCol w="457917">
                  <a:extLst>
                    <a:ext uri="{9D8B030D-6E8A-4147-A177-3AD203B41FA5}">
                      <a16:colId xmlns:a16="http://schemas.microsoft.com/office/drawing/2014/main" val="4048170336"/>
                    </a:ext>
                  </a:extLst>
                </a:gridCol>
                <a:gridCol w="1246554">
                  <a:extLst>
                    <a:ext uri="{9D8B030D-6E8A-4147-A177-3AD203B41FA5}">
                      <a16:colId xmlns:a16="http://schemas.microsoft.com/office/drawing/2014/main" val="3116624674"/>
                    </a:ext>
                  </a:extLst>
                </a:gridCol>
                <a:gridCol w="1628152">
                  <a:extLst>
                    <a:ext uri="{9D8B030D-6E8A-4147-A177-3AD203B41FA5}">
                      <a16:colId xmlns:a16="http://schemas.microsoft.com/office/drawing/2014/main" val="406336954"/>
                    </a:ext>
                  </a:extLst>
                </a:gridCol>
                <a:gridCol w="992155">
                  <a:extLst>
                    <a:ext uri="{9D8B030D-6E8A-4147-A177-3AD203B41FA5}">
                      <a16:colId xmlns:a16="http://schemas.microsoft.com/office/drawing/2014/main" val="3056634388"/>
                    </a:ext>
                  </a:extLst>
                </a:gridCol>
                <a:gridCol w="4264359">
                  <a:extLst>
                    <a:ext uri="{9D8B030D-6E8A-4147-A177-3AD203B41FA5}">
                      <a16:colId xmlns:a16="http://schemas.microsoft.com/office/drawing/2014/main" val="3945603418"/>
                    </a:ext>
                  </a:extLst>
                </a:gridCol>
                <a:gridCol w="725035">
                  <a:extLst>
                    <a:ext uri="{9D8B030D-6E8A-4147-A177-3AD203B41FA5}">
                      <a16:colId xmlns:a16="http://schemas.microsoft.com/office/drawing/2014/main" val="4126599468"/>
                    </a:ext>
                  </a:extLst>
                </a:gridCol>
                <a:gridCol w="715497">
                  <a:extLst>
                    <a:ext uri="{9D8B030D-6E8A-4147-A177-3AD203B41FA5}">
                      <a16:colId xmlns:a16="http://schemas.microsoft.com/office/drawing/2014/main" val="925493359"/>
                    </a:ext>
                  </a:extLst>
                </a:gridCol>
                <a:gridCol w="445197">
                  <a:extLst>
                    <a:ext uri="{9D8B030D-6E8A-4147-A177-3AD203B41FA5}">
                      <a16:colId xmlns:a16="http://schemas.microsoft.com/office/drawing/2014/main" val="2735035084"/>
                    </a:ext>
                  </a:extLst>
                </a:gridCol>
              </a:tblGrid>
              <a:tr h="6758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Área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Owner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Dpto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Task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Issues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Descripcion del Issue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Carga Emocional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Carga Operativa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Clasif.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864544"/>
                  </a:ext>
                </a:extLst>
              </a:tr>
              <a:tr h="5199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Admin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Monse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Finanzas - Ctas Ctes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Pago a proveedores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Magistral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Diferencias acumuladas, pagos superiores al flujo, Repercuciones en Asientos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Alta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Alta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967886"/>
                  </a:ext>
                </a:extLst>
              </a:tr>
              <a:tr h="779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Admin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Karla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Logistica - Admin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Tareas administrativas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Multitasking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Superposición de tareas logisticas (Compras, mantenimiento, etc) a las tareas Administrativas (Apoyo a monse con files, invoices, pagos y facturación)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1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Alta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9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502599"/>
                  </a:ext>
                </a:extLst>
              </a:tr>
              <a:tr h="5199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Admin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Monse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Finanzas - Contabilidad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Reporte y control de indicadores financieros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Indicadores financieros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Falta de tiempo para la construccion de reportes para el seguimiento de indicadores financieros esenciales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Alta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1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169659"/>
                  </a:ext>
                </a:extLst>
              </a:tr>
              <a:tr h="779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Admin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Monse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Admin - Facturación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convesion a dolares para facturación de pagos en pesos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Tipo de cambio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 sensible a generar diferencias  carga operaiva  significativa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1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Alta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9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667108"/>
                  </a:ext>
                </a:extLst>
              </a:tr>
              <a:tr h="7798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Ventas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Todos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Admin - Facturación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Pago a proveedores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Pagos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Extensión de la gestión del vendedor en el proceso de pagos y facturación. Cuesta desprenderse de la venta incluso cuando ya fue cerrada y facturada. Falla de comunicación y desorden en nodos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Alta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9C0006"/>
                          </a:solidFill>
                          <a:effectLst/>
                          <a:latin typeface="Aptos Narrow" panose="020B0004020202020204" pitchFamily="34" charset="0"/>
                        </a:rPr>
                        <a:t>Alta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288511"/>
                  </a:ext>
                </a:extLst>
              </a:tr>
              <a:tr h="5199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Ventas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Todos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Ventas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 de construcción de itinerarios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Construcción de itinerarios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 alta, los itinerarios suelen aumentar en volumen y complejidad superponiendo gestiones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9C5700"/>
                          </a:solidFill>
                          <a:effectLst/>
                          <a:latin typeface="Aptos Narrow" panose="020B0004020202020204" pitchFamily="34" charset="0"/>
                        </a:rPr>
                        <a:t>Baja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1E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8477" marR="8477" marT="8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352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2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A156-4F7F-7F16-4EFA-AE57D91B2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ítulo 36">
            <a:extLst>
              <a:ext uri="{FF2B5EF4-FFF2-40B4-BE49-F238E27FC236}">
                <a16:creationId xmlns:a16="http://schemas.microsoft.com/office/drawing/2014/main" id="{366B1C2B-2A5F-3D46-2A3D-C7292665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Crecimiento es comunicación y empatía</a:t>
            </a:r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D45D94C2-2A15-7838-8C93-F3EAC6F88877}"/>
              </a:ext>
            </a:extLst>
          </p:cNvPr>
          <p:cNvGrpSpPr/>
          <p:nvPr/>
        </p:nvGrpSpPr>
        <p:grpSpPr>
          <a:xfrm>
            <a:off x="1170073" y="2306505"/>
            <a:ext cx="9574128" cy="3803350"/>
            <a:chOff x="4553345" y="3802417"/>
            <a:chExt cx="7076716" cy="2526194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09BDE23B-A245-8DDB-C8A9-AC7849CED05A}"/>
                </a:ext>
              </a:extLst>
            </p:cNvPr>
            <p:cNvSpPr txBox="1"/>
            <p:nvPr/>
          </p:nvSpPr>
          <p:spPr>
            <a:xfrm>
              <a:off x="4553346" y="3886239"/>
              <a:ext cx="1926135" cy="347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dirty="0"/>
                <a:t>DEFINIR INDICADORES CLAVE. CUANTIFICAR LOS ISSUES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5B7A74F-0196-F67A-EBE7-D8DCEECB38D2}"/>
                </a:ext>
              </a:extLst>
            </p:cNvPr>
            <p:cNvSpPr txBox="1"/>
            <p:nvPr/>
          </p:nvSpPr>
          <p:spPr>
            <a:xfrm>
              <a:off x="9444007" y="3886239"/>
              <a:ext cx="2186054" cy="347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dirty="0"/>
                <a:t>COMO NOS PONEMOS DE ACUERDO PARA RESOLVER LOS ISSUES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D9D6D893-E9C9-DC5C-B2B4-39B6AADEDA16}"/>
                </a:ext>
              </a:extLst>
            </p:cNvPr>
            <p:cNvSpPr txBox="1"/>
            <p:nvPr/>
          </p:nvSpPr>
          <p:spPr>
            <a:xfrm>
              <a:off x="4595991" y="5851484"/>
              <a:ext cx="6830880" cy="204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dirty="0"/>
                <a:t>QUE NECESITAMOS PARA SEGUIR CRECIENDO INDIVIDUALMENTE Y COMO EMPRESA</a:t>
              </a:r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73343631-FFC6-C6C4-7ACB-BA7E92942DF2}"/>
                </a:ext>
              </a:extLst>
            </p:cNvPr>
            <p:cNvSpPr/>
            <p:nvPr/>
          </p:nvSpPr>
          <p:spPr>
            <a:xfrm>
              <a:off x="7116355" y="3802417"/>
              <a:ext cx="1790155" cy="1637141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8ACAFBAB-9390-DAEF-695A-EA476BE9DBC3}"/>
                </a:ext>
              </a:extLst>
            </p:cNvPr>
            <p:cNvSpPr txBox="1"/>
            <p:nvPr/>
          </p:nvSpPr>
          <p:spPr>
            <a:xfrm>
              <a:off x="7274486" y="4345012"/>
              <a:ext cx="1473891" cy="551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400" b="1" dirty="0">
                  <a:solidFill>
                    <a:schemeClr val="bg1"/>
                  </a:solidFill>
                </a:rPr>
                <a:t>ACTIVIDAD EMPATIA</a:t>
              </a:r>
            </a:p>
          </p:txBody>
        </p:sp>
        <p:sp>
          <p:nvSpPr>
            <p:cNvPr id="36" name="Flecha: hacia abajo 35">
              <a:extLst>
                <a:ext uri="{FF2B5EF4-FFF2-40B4-BE49-F238E27FC236}">
                  <a16:creationId xmlns:a16="http://schemas.microsoft.com/office/drawing/2014/main" id="{7FEBD997-537A-1E9D-F783-E83881915412}"/>
                </a:ext>
              </a:extLst>
            </p:cNvPr>
            <p:cNvSpPr/>
            <p:nvPr/>
          </p:nvSpPr>
          <p:spPr>
            <a:xfrm rot="15286443">
              <a:off x="8896062" y="4284084"/>
              <a:ext cx="380770" cy="25686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0" name="Flecha: hacia abajo 39">
              <a:extLst>
                <a:ext uri="{FF2B5EF4-FFF2-40B4-BE49-F238E27FC236}">
                  <a16:creationId xmlns:a16="http://schemas.microsoft.com/office/drawing/2014/main" id="{123A9C0C-10CC-F5F9-CE20-939BDA93E739}"/>
                </a:ext>
              </a:extLst>
            </p:cNvPr>
            <p:cNvSpPr/>
            <p:nvPr/>
          </p:nvSpPr>
          <p:spPr>
            <a:xfrm>
              <a:off x="7821047" y="5505263"/>
              <a:ext cx="380770" cy="25686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Flecha: hacia abajo 41">
              <a:extLst>
                <a:ext uri="{FF2B5EF4-FFF2-40B4-BE49-F238E27FC236}">
                  <a16:creationId xmlns:a16="http://schemas.microsoft.com/office/drawing/2014/main" id="{3F5EE380-B94C-AC4D-8AC9-BEB3047F4AD6}"/>
                </a:ext>
              </a:extLst>
            </p:cNvPr>
            <p:cNvSpPr/>
            <p:nvPr/>
          </p:nvSpPr>
          <p:spPr>
            <a:xfrm rot="6197813">
              <a:off x="6768749" y="4281024"/>
              <a:ext cx="380770" cy="25686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A8EB2319-61EC-7F68-8776-CFF6CEB6C9FA}"/>
                </a:ext>
              </a:extLst>
            </p:cNvPr>
            <p:cNvSpPr/>
            <p:nvPr/>
          </p:nvSpPr>
          <p:spPr>
            <a:xfrm>
              <a:off x="4553345" y="4370876"/>
              <a:ext cx="1926443" cy="228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dirty="0"/>
                <a:t>EMPATIA CON EMPRESA</a:t>
              </a:r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AD26DDE1-3C4A-A122-15C2-36759269A82F}"/>
                </a:ext>
              </a:extLst>
            </p:cNvPr>
            <p:cNvSpPr/>
            <p:nvPr/>
          </p:nvSpPr>
          <p:spPr>
            <a:xfrm>
              <a:off x="9573813" y="4345012"/>
              <a:ext cx="1926442" cy="2289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100" dirty="0"/>
                <a:t>EMPATIA CON PERSONAS</a:t>
              </a:r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115A86DC-257C-99A3-3C2C-FE076B235908}"/>
                </a:ext>
              </a:extLst>
            </p:cNvPr>
            <p:cNvSpPr/>
            <p:nvPr/>
          </p:nvSpPr>
          <p:spPr>
            <a:xfrm>
              <a:off x="7073406" y="6103184"/>
              <a:ext cx="1926443" cy="2254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dirty="0"/>
                <a:t>EMPATIA A DESARROLLARSE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5203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995_TF22378848.potx" id="{85DF5566-E470-4B76-A232-C21C6F80612C}" vid="{69CBCECC-819E-48E2-AFD3-2FC38523383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Integral</Template>
  <TotalTime>223</TotalTime>
  <Words>378</Words>
  <Application>Microsoft Office PowerPoint</Application>
  <PresentationFormat>Panorámica</PresentationFormat>
  <Paragraphs>92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Aptos Narrow</vt:lpstr>
      <vt:lpstr>Calibri</vt:lpstr>
      <vt:lpstr>Tw Cen MT</vt:lpstr>
      <vt:lpstr>Tw Cen MT Condensed</vt:lpstr>
      <vt:lpstr>Wingdings 3</vt:lpstr>
      <vt:lpstr>Integral</vt:lpstr>
      <vt:lpstr>empatía</vt:lpstr>
      <vt:lpstr>Que Es el proyecto Empatía?</vt:lpstr>
      <vt:lpstr>Diagnóstico</vt:lpstr>
      <vt:lpstr>Diagnóstico Etapa 1 </vt:lpstr>
      <vt:lpstr>Crecimiento es comunicación y empatía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Austral</dc:creator>
  <cp:lastModifiedBy>Sebastian vaccaro</cp:lastModifiedBy>
  <cp:revision>3</cp:revision>
  <dcterms:created xsi:type="dcterms:W3CDTF">2026-09-12T01:10:02Z</dcterms:created>
  <dcterms:modified xsi:type="dcterms:W3CDTF">2026-09-14T19:34:21Z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